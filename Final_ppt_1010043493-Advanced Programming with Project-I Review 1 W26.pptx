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  <p:sldId id="268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rRxIPe2vL6jumpTm5Ei4+XDzI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02F2E2E-27D3-4094-A73F-1A184AB45E4C}">
  <a:tblStyle styleId="{402F2E2E-27D3-4094-A73F-1A184AB45E4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667400058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  <p:sp>
        <p:nvSpPr>
          <p:cNvPr id="91" name="Google Shape;91;g3f667400058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278630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1" name="Google Shape;21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26037" y="0"/>
            <a:ext cx="1965963" cy="56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8" name="Google Shape;28;p13" title="SOU_LOGO_new-removebg (1) (9)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815721" y="0"/>
            <a:ext cx="2376274" cy="51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2" name="Google Shape;42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91217" y="0"/>
            <a:ext cx="2066929" cy="598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2" name="Google Shape;52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22907" y="1"/>
            <a:ext cx="2137230" cy="61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9" name="Google Shape;69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20764" y="0"/>
            <a:ext cx="2139373" cy="619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3" name="Google Shape;73;p2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g3f667400058_0_3"/>
          <p:cNvPicPr preferRelativeResize="0"/>
          <p:nvPr/>
        </p:nvPicPr>
        <p:blipFill rotWithShape="1">
          <a:blip r:embed="rId3">
            <a:alphaModFix/>
          </a:blip>
          <a:srcRect r="2610"/>
          <a:stretch/>
        </p:blipFill>
        <p:spPr>
          <a:xfrm>
            <a:off x="-6199" y="-1"/>
            <a:ext cx="12192001" cy="57393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f667400058_0_3"/>
          <p:cNvSpPr/>
          <p:nvPr/>
        </p:nvSpPr>
        <p:spPr>
          <a:xfrm>
            <a:off x="-18600" y="3875476"/>
            <a:ext cx="12204300" cy="2982600"/>
          </a:xfrm>
          <a:prstGeom prst="rect">
            <a:avLst/>
          </a:prstGeom>
          <a:solidFill>
            <a:srgbClr val="9537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endParaRPr sz="36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g3f667400058_0_3"/>
          <p:cNvSpPr txBox="1"/>
          <p:nvPr/>
        </p:nvSpPr>
        <p:spPr>
          <a:xfrm>
            <a:off x="793350" y="712000"/>
            <a:ext cx="10580400" cy="2893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-IN" sz="4400" b="1" dirty="0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Programming With Project-I</a:t>
            </a:r>
            <a:endParaRPr sz="4400" b="1" dirty="0">
              <a:solidFill>
                <a:srgbClr val="6324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buSzPts val="3700"/>
            </a:pPr>
            <a:r>
              <a:rPr lang="en-IN" sz="4400" b="1" dirty="0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1010043493</a:t>
            </a:r>
            <a:endParaRPr sz="4400" b="1" dirty="0">
              <a:solidFill>
                <a:srgbClr val="6324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-IN" sz="4400" b="1" dirty="0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E-Commerce Revenue &amp; Growth Intelligence Platform</a:t>
            </a:r>
            <a:endParaRPr sz="4400" b="1" dirty="0">
              <a:solidFill>
                <a:srgbClr val="6324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" name="Google Shape;96;g3f667400058_0_3" title="SOU_LOGO_new-removebg (1) (9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98992" y="0"/>
            <a:ext cx="3292999" cy="712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7" name="Google Shape;97;g3f667400058_0_3"/>
          <p:cNvGraphicFramePr/>
          <p:nvPr>
            <p:extLst>
              <p:ext uri="{D42A27DB-BD31-4B8C-83A1-F6EECF244321}">
                <p14:modId xmlns:p14="http://schemas.microsoft.com/office/powerpoint/2010/main" val="2825146796"/>
              </p:ext>
            </p:extLst>
          </p:nvPr>
        </p:nvGraphicFramePr>
        <p:xfrm>
          <a:off x="1086337" y="4165474"/>
          <a:ext cx="10019325" cy="2285850"/>
        </p:xfrm>
        <a:graphic>
          <a:graphicData uri="http://schemas.openxmlformats.org/drawingml/2006/table">
            <a:tbl>
              <a:tblPr>
                <a:noFill/>
                <a:tableStyleId>{402F2E2E-27D3-4094-A73F-1A184AB45E4C}</a:tableStyleId>
              </a:tblPr>
              <a:tblGrid>
                <a:gridCol w="407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Project ID</a:t>
                      </a:r>
                      <a:endParaRPr sz="1800" b="1" dirty="0">
                        <a:solidFill>
                          <a:schemeClr val="bg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M1_CE_062</a:t>
                      </a:r>
                      <a:endParaRPr sz="1800" dirty="0">
                        <a:solidFill>
                          <a:schemeClr val="bg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Enrollment No</a:t>
                      </a:r>
                      <a:endParaRPr sz="1800" b="1" dirty="0">
                        <a:solidFill>
                          <a:schemeClr val="bg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2402030430017</a:t>
                      </a:r>
                      <a:endParaRPr sz="1800" dirty="0">
                        <a:solidFill>
                          <a:schemeClr val="bg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Name</a:t>
                      </a:r>
                      <a:endParaRPr sz="1800" b="1" dirty="0">
                        <a:solidFill>
                          <a:schemeClr val="bg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Tank Darshan R.</a:t>
                      </a:r>
                      <a:endParaRPr sz="1800" dirty="0">
                        <a:solidFill>
                          <a:schemeClr val="bg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1">
                          <a:solidFill>
                            <a:schemeClr val="bg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Branch</a:t>
                      </a:r>
                      <a:endParaRPr sz="1800" b="1">
                        <a:solidFill>
                          <a:schemeClr val="bg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COMPUTER ENGINEERING</a:t>
                      </a:r>
                      <a:endParaRPr sz="1800" dirty="0">
                        <a:solidFill>
                          <a:schemeClr val="bg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Guide Name</a:t>
                      </a:r>
                      <a:endParaRPr sz="1800" b="1" dirty="0">
                        <a:solidFill>
                          <a:schemeClr val="bg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Ms.Bhumika Sindhav</a:t>
                      </a:r>
                      <a:endParaRPr sz="1800" dirty="0">
                        <a:solidFill>
                          <a:schemeClr val="bg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Index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3" name="Google Shape;103;p2"/>
          <p:cNvSpPr txBox="1">
            <a:spLocks noGrp="1"/>
          </p:cNvSpPr>
          <p:nvPr>
            <p:ph type="body" idx="1"/>
          </p:nvPr>
        </p:nvSpPr>
        <p:spPr>
          <a:xfrm>
            <a:off x="609600" y="1417638"/>
            <a:ext cx="10972800" cy="4983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Introduction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Background and Motivation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Relevance and Importance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Literature review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Objectives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Required Tools and Technology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Method/ Approach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Bibliography</a:t>
            </a:r>
          </a:p>
          <a:p>
            <a:pPr marL="342900" lvl="0">
              <a:spcBef>
                <a:spcPts val="640"/>
              </a:spcBef>
              <a:buSzPts val="3200"/>
              <a:buFont typeface="Cambria"/>
              <a:buChar char="•"/>
            </a:pPr>
            <a:r>
              <a:rPr lang="en-IN" dirty="0"/>
              <a:t>Expected Project Outcome</a:t>
            </a:r>
            <a:endParaRPr lang="en-IN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5" name="Google Shape;105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Introduction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1" name="Google Shape;111;p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just"/>
            <a:r>
              <a:rPr lang="en-IN" sz="2500" dirty="0"/>
              <a:t>E-commerce companies generate huge amounts of sales, customer, product, and order data every day. </a:t>
            </a:r>
          </a:p>
          <a:p>
            <a:pPr lvl="0" algn="just"/>
            <a:r>
              <a:rPr lang="en-IN" sz="2500" dirty="0"/>
              <a:t>Raw data is difficult to understand without proper analysis. </a:t>
            </a:r>
          </a:p>
          <a:p>
            <a:pPr lvl="0" algn="just"/>
            <a:r>
              <a:rPr lang="en-IN" sz="2500" dirty="0"/>
              <a:t>This project focuses on cleaning, processing, analyzing, and visualizing e-commerce data. </a:t>
            </a:r>
          </a:p>
          <a:p>
            <a:pPr lvl="0" algn="just"/>
            <a:r>
              <a:rPr lang="en-IN" sz="2500" dirty="0"/>
              <a:t>The platform helps businesses monitor sales performance and identify growth opportunities. </a:t>
            </a:r>
          </a:p>
          <a:p>
            <a:pPr lvl="0" algn="just"/>
            <a:r>
              <a:rPr lang="en-IN" sz="2500" dirty="0"/>
              <a:t>The project uses data analytics techniques to transform raw business data into meaningful insights.</a:t>
            </a:r>
            <a:r>
              <a:rPr lang="en-IN" sz="2500" dirty="0">
                <a:latin typeface="Cambria"/>
                <a:ea typeface="Cambria"/>
                <a:cs typeface="Cambria"/>
                <a:sym typeface="Cambria"/>
              </a:rPr>
              <a:t> </a:t>
            </a:r>
            <a:endParaRPr sz="25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3" name="Google Shape;113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sp>
        <p:nvSpPr>
          <p:cNvPr id="3" name="Google Shape;150;p7">
            <a:extLst>
              <a:ext uri="{FF2B5EF4-FFF2-40B4-BE49-F238E27FC236}">
                <a16:creationId xmlns:a16="http://schemas.microsoft.com/office/drawing/2014/main" id="{0B36C0EE-7188-F844-BA10-A05C8D9F1FB2}"/>
              </a:ext>
            </a:extLst>
          </p:cNvPr>
          <p:cNvSpPr txBox="1"/>
          <p:nvPr/>
        </p:nvSpPr>
        <p:spPr>
          <a:xfrm>
            <a:off x="3454400" y="6211669"/>
            <a:ext cx="60960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20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sz="120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20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sz="120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Background and Motivation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0" name="Google Shape;120;p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r>
              <a:rPr lang="en-IN" b="1" dirty="0"/>
              <a:t>Background</a:t>
            </a:r>
          </a:p>
          <a:p>
            <a:pPr lvl="0"/>
            <a:r>
              <a:rPr lang="en-IN" dirty="0"/>
              <a:t>Online shopping has increased rapidly. </a:t>
            </a:r>
          </a:p>
          <a:p>
            <a:pPr lvl="0"/>
            <a:r>
              <a:rPr lang="en-IN" dirty="0"/>
              <a:t>Businesses collect millions of transaction records. </a:t>
            </a:r>
          </a:p>
          <a:p>
            <a:pPr lvl="0"/>
            <a:r>
              <a:rPr lang="en-IN" dirty="0"/>
              <a:t>Most organizations struggle to convert raw data into useful business decisions. </a:t>
            </a:r>
          </a:p>
          <a:p>
            <a:pPr marL="114300" lvl="0" indent="0">
              <a:buNone/>
            </a:pPr>
            <a:endParaRPr lang="en-IN" dirty="0"/>
          </a:p>
          <a:p>
            <a:r>
              <a:rPr lang="en-IN" b="1" dirty="0"/>
              <a:t>Motivation</a:t>
            </a:r>
          </a:p>
          <a:p>
            <a:pPr lvl="0"/>
            <a:r>
              <a:rPr lang="en-IN" dirty="0"/>
              <a:t>Improve decision making using data. </a:t>
            </a:r>
          </a:p>
          <a:p>
            <a:pPr lvl="0"/>
            <a:r>
              <a:rPr lang="en-IN" dirty="0"/>
              <a:t>Identify sales trends. </a:t>
            </a:r>
          </a:p>
          <a:p>
            <a:pPr lvl="0"/>
            <a:r>
              <a:rPr lang="en-IN" dirty="0"/>
              <a:t>Analyze customer purchasing behavior. </a:t>
            </a:r>
          </a:p>
          <a:p>
            <a:pPr lvl="0"/>
            <a:r>
              <a:rPr lang="en-IN" dirty="0"/>
              <a:t>Detect high-performing and low-performing products. </a:t>
            </a:r>
          </a:p>
          <a:p>
            <a:pPr lvl="0"/>
            <a:r>
              <a:rPr lang="en-IN" dirty="0"/>
              <a:t>Build an interactive dashboard for business users.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2" name="Google Shape;122;p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  <p:sp>
        <p:nvSpPr>
          <p:cNvPr id="3" name="Google Shape;150;p7">
            <a:extLst>
              <a:ext uri="{FF2B5EF4-FFF2-40B4-BE49-F238E27FC236}">
                <a16:creationId xmlns:a16="http://schemas.microsoft.com/office/drawing/2014/main" id="{E64D5D0B-2AA5-B4CB-9815-1AFA6D62FEB3}"/>
              </a:ext>
            </a:extLst>
          </p:cNvPr>
          <p:cNvSpPr txBox="1"/>
          <p:nvPr/>
        </p:nvSpPr>
        <p:spPr>
          <a:xfrm>
            <a:off x="3454400" y="6211669"/>
            <a:ext cx="60960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20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sz="120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20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sz="120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Relevance and Importance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9" name="Google Shape;129;p5"/>
          <p:cNvSpPr txBox="1">
            <a:spLocks noGrp="1"/>
          </p:cNvSpPr>
          <p:nvPr>
            <p:ph type="body" idx="1"/>
          </p:nvPr>
        </p:nvSpPr>
        <p:spPr>
          <a:xfrm>
            <a:off x="609600" y="1696286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just"/>
            <a:r>
              <a:rPr lang="en-IN" sz="2500" dirty="0"/>
              <a:t>Helps companies understand their business performance. </a:t>
            </a:r>
          </a:p>
          <a:p>
            <a:pPr lvl="0" algn="just"/>
            <a:r>
              <a:rPr lang="en-IN" sz="2500" dirty="0"/>
              <a:t>Improves revenue through data-driven decisions. </a:t>
            </a:r>
          </a:p>
          <a:p>
            <a:pPr lvl="0" algn="just"/>
            <a:r>
              <a:rPr lang="en-IN" sz="2500" dirty="0"/>
              <a:t>Identifies profitable products and categories. </a:t>
            </a:r>
          </a:p>
          <a:p>
            <a:pPr lvl="0" algn="just"/>
            <a:r>
              <a:rPr lang="en-IN" sz="2500" dirty="0"/>
              <a:t>Tracks customer buying patterns. </a:t>
            </a:r>
          </a:p>
          <a:p>
            <a:pPr lvl="0" algn="just"/>
            <a:r>
              <a:rPr lang="en-IN" sz="2500" dirty="0"/>
              <a:t>Reduces manual reporting. </a:t>
            </a:r>
          </a:p>
          <a:p>
            <a:pPr lvl="0" algn="just"/>
            <a:r>
              <a:rPr lang="en-IN" sz="2500" dirty="0"/>
              <a:t>Supports management with visual dashboards. </a:t>
            </a:r>
          </a:p>
          <a:p>
            <a:pPr lvl="0" algn="just"/>
            <a:r>
              <a:rPr lang="en-IN" sz="2500" dirty="0"/>
              <a:t>Makes business analysis faster and more accurate.</a:t>
            </a:r>
          </a:p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endParaRPr sz="25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1" name="Google Shape;131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  <p:sp>
        <p:nvSpPr>
          <p:cNvPr id="5" name="Google Shape;150;p7">
            <a:extLst>
              <a:ext uri="{FF2B5EF4-FFF2-40B4-BE49-F238E27FC236}">
                <a16:creationId xmlns:a16="http://schemas.microsoft.com/office/drawing/2014/main" id="{81615F6B-B575-785F-4C4B-836936BBBBC0}"/>
              </a:ext>
            </a:extLst>
          </p:cNvPr>
          <p:cNvSpPr txBox="1"/>
          <p:nvPr/>
        </p:nvSpPr>
        <p:spPr>
          <a:xfrm>
            <a:off x="3454400" y="6211669"/>
            <a:ext cx="60960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20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sz="120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20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sz="120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Literature Review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0" name="Google Shape;140;p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  <p:sp>
        <p:nvSpPr>
          <p:cNvPr id="141" name="Google Shape;141;p6"/>
          <p:cNvSpPr txBox="1"/>
          <p:nvPr/>
        </p:nvSpPr>
        <p:spPr>
          <a:xfrm>
            <a:off x="3454400" y="6211669"/>
            <a:ext cx="60960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20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sz="120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20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sz="120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3215BC-E462-59EA-E5B3-0170AAED72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2500" b="1" dirty="0"/>
              <a:t>Paper 1</a:t>
            </a:r>
            <a:endParaRPr lang="en-IN" sz="2500" dirty="0"/>
          </a:p>
          <a:p>
            <a:pPr lvl="0">
              <a:buFont typeface="Wingdings" panose="05000000000000000000" pitchFamily="2" charset="2"/>
              <a:buChar char="ü"/>
            </a:pPr>
            <a:r>
              <a:rPr lang="en-IN" sz="2500" dirty="0"/>
              <a:t>Focused on sales prediction.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sz="2500" dirty="0"/>
              <a:t>Improved demand forecasting. </a:t>
            </a:r>
          </a:p>
          <a:p>
            <a:r>
              <a:rPr lang="en-IN" sz="2500" b="1" dirty="0"/>
              <a:t>Paper 2</a:t>
            </a:r>
            <a:endParaRPr lang="en-IN" sz="2500" dirty="0"/>
          </a:p>
          <a:p>
            <a:pPr lvl="0">
              <a:buFont typeface="Wingdings" panose="05000000000000000000" pitchFamily="2" charset="2"/>
              <a:buChar char="ü"/>
            </a:pPr>
            <a:r>
              <a:rPr lang="en-IN" sz="2500" dirty="0"/>
              <a:t>Developed business intelligence dashboards.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sz="2500" dirty="0"/>
              <a:t>Helped managers monitor KPIs. </a:t>
            </a:r>
          </a:p>
          <a:p>
            <a:r>
              <a:rPr lang="en-IN" sz="2500" b="1" dirty="0"/>
              <a:t>Paper 3</a:t>
            </a:r>
            <a:endParaRPr lang="en-IN" sz="2500" dirty="0"/>
          </a:p>
          <a:p>
            <a:pPr lvl="0">
              <a:buFont typeface="Wingdings" panose="05000000000000000000" pitchFamily="2" charset="2"/>
              <a:buChar char="ü"/>
            </a:pPr>
            <a:r>
              <a:rPr lang="en-IN" sz="2500" dirty="0"/>
              <a:t>Used Python and Power BI for sales analytics.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sz="2500" dirty="0"/>
              <a:t>Improved business reporting.</a:t>
            </a:r>
          </a:p>
          <a:p>
            <a:endParaRPr lang="en-IN" sz="2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Objectives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7" name="Google Shape;147;p7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IN" sz="2500" b="1" dirty="0"/>
              <a:t>The objectives of this project are: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sz="2500" dirty="0"/>
              <a:t>Collect e-commerce data.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sz="2500" dirty="0"/>
              <a:t>Clean missing and duplicate data.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sz="2500" dirty="0"/>
              <a:t>Perform exploratory data analysis.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sz="2500" dirty="0"/>
              <a:t>Store processed data using SQL.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sz="2500" dirty="0"/>
              <a:t>Create business KPIs.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sz="2500" dirty="0"/>
              <a:t>Develop interactive Power BI dashboards.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sz="2500" dirty="0"/>
              <a:t>Analyze sales, revenue, and customer behavior.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en-IN" sz="2500" dirty="0"/>
              <a:t>Support business decision-making.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endParaRPr sz="25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9" name="Google Shape;149;p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  <p:sp>
        <p:nvSpPr>
          <p:cNvPr id="150" name="Google Shape;150;p7"/>
          <p:cNvSpPr txBox="1"/>
          <p:nvPr/>
        </p:nvSpPr>
        <p:spPr>
          <a:xfrm>
            <a:off x="3454400" y="6221501"/>
            <a:ext cx="60960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20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sz="120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20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sz="120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Required Tools and Technology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6" name="Google Shape;156;p8"/>
          <p:cNvSpPr txBox="1">
            <a:spLocks noGrp="1"/>
          </p:cNvSpPr>
          <p:nvPr>
            <p:ph type="body" idx="1"/>
          </p:nvPr>
        </p:nvSpPr>
        <p:spPr>
          <a:xfrm>
            <a:off x="609500" y="1849915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IN" sz="2500" b="1" dirty="0"/>
              <a:t>Programming Language : </a:t>
            </a:r>
            <a:r>
              <a:rPr lang="en-IN" sz="2500" dirty="0"/>
              <a:t>Python </a:t>
            </a:r>
          </a:p>
          <a:p>
            <a:r>
              <a:rPr lang="en-IN" sz="2500" b="1" dirty="0"/>
              <a:t>Database : </a:t>
            </a:r>
            <a:r>
              <a:rPr lang="en-IN" sz="2500" dirty="0"/>
              <a:t>MySQL </a:t>
            </a:r>
          </a:p>
          <a:p>
            <a:r>
              <a:rPr lang="en-IN" sz="2500" b="1" dirty="0"/>
              <a:t>Data Processing : </a:t>
            </a:r>
            <a:r>
              <a:rPr lang="en-IN" sz="2500" dirty="0"/>
              <a:t>Pandas &amp; NumPy </a:t>
            </a:r>
          </a:p>
          <a:p>
            <a:r>
              <a:rPr lang="en-IN" sz="2500" b="1" dirty="0"/>
              <a:t>Visualization : </a:t>
            </a:r>
            <a:r>
              <a:rPr lang="en-IN" sz="2500" dirty="0"/>
              <a:t>Power BI </a:t>
            </a:r>
          </a:p>
          <a:p>
            <a:r>
              <a:rPr lang="en-IN" sz="2500" b="1" dirty="0"/>
              <a:t>File Handling : </a:t>
            </a:r>
            <a:r>
              <a:rPr lang="en-IN" sz="2500" dirty="0"/>
              <a:t>Excel </a:t>
            </a:r>
          </a:p>
          <a:p>
            <a:r>
              <a:rPr lang="en-IN" sz="2500" b="1" dirty="0"/>
              <a:t>IDE : </a:t>
            </a:r>
            <a:r>
              <a:rPr lang="en-IN" sz="2500" dirty="0"/>
              <a:t>VS Code</a:t>
            </a:r>
          </a:p>
          <a:p>
            <a:r>
              <a:rPr lang="en-IN" sz="2500" b="1" dirty="0"/>
              <a:t>Dataset : </a:t>
            </a:r>
            <a:r>
              <a:rPr lang="en-IN" sz="2500" dirty="0"/>
              <a:t>Brazilian Olist E-Commerce Dataset</a:t>
            </a:r>
          </a:p>
          <a:p>
            <a:endParaRPr lang="en-IN" sz="2500" dirty="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endParaRPr sz="25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8" name="Google Shape;158;p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  <p:sp>
        <p:nvSpPr>
          <p:cNvPr id="5" name="Google Shape;150;p7">
            <a:extLst>
              <a:ext uri="{FF2B5EF4-FFF2-40B4-BE49-F238E27FC236}">
                <a16:creationId xmlns:a16="http://schemas.microsoft.com/office/drawing/2014/main" id="{26182A62-1927-93D0-1DA2-2F95C5B1B0D2}"/>
              </a:ext>
            </a:extLst>
          </p:cNvPr>
          <p:cNvSpPr txBox="1"/>
          <p:nvPr/>
        </p:nvSpPr>
        <p:spPr>
          <a:xfrm>
            <a:off x="3454400" y="6211669"/>
            <a:ext cx="60960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20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sz="120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20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sz="120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Method/ Approach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5" name="Google Shape;165;p9"/>
          <p:cNvSpPr txBox="1">
            <a:spLocks noGrp="1"/>
          </p:cNvSpPr>
          <p:nvPr>
            <p:ph type="body" idx="1"/>
          </p:nvPr>
        </p:nvSpPr>
        <p:spPr>
          <a:xfrm>
            <a:off x="609600" y="1228508"/>
            <a:ext cx="10972800" cy="4983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 algn="ctr">
              <a:buNone/>
            </a:pPr>
            <a:r>
              <a:rPr lang="en-IN" sz="2400" b="1" dirty="0"/>
              <a:t>Step 1</a:t>
            </a:r>
          </a:p>
          <a:p>
            <a:pPr marL="114300" indent="0" algn="ctr">
              <a:buNone/>
            </a:pPr>
            <a:r>
              <a:rPr lang="en-IN" sz="2400" dirty="0"/>
              <a:t>Collect Dataset</a:t>
            </a:r>
          </a:p>
          <a:p>
            <a:pPr marL="114300" indent="0" algn="ctr">
              <a:buNone/>
            </a:pPr>
            <a:r>
              <a:rPr lang="en-IN" sz="2400" dirty="0"/>
              <a:t>↓</a:t>
            </a:r>
          </a:p>
          <a:p>
            <a:pPr marL="114300" indent="0" algn="ctr">
              <a:buNone/>
            </a:pPr>
            <a:r>
              <a:rPr lang="en-IN" sz="2400" b="1" dirty="0"/>
              <a:t>Step 2</a:t>
            </a:r>
          </a:p>
          <a:p>
            <a:pPr marL="114300" indent="0" algn="ctr">
              <a:buNone/>
            </a:pPr>
            <a:r>
              <a:rPr lang="en-IN" sz="2400" dirty="0"/>
              <a:t>Understand Dataset</a:t>
            </a:r>
          </a:p>
          <a:p>
            <a:pPr marL="114300" indent="0" algn="ctr">
              <a:buNone/>
            </a:pPr>
            <a:r>
              <a:rPr lang="en-IN" sz="2400" dirty="0"/>
              <a:t>↓</a:t>
            </a:r>
          </a:p>
          <a:p>
            <a:pPr marL="114300" indent="0" algn="ctr">
              <a:buNone/>
            </a:pPr>
            <a:r>
              <a:rPr lang="en-IN" sz="2400" b="1" dirty="0"/>
              <a:t>Step 3</a:t>
            </a:r>
          </a:p>
          <a:p>
            <a:pPr marL="114300" indent="0" algn="ctr">
              <a:buNone/>
            </a:pPr>
            <a:r>
              <a:rPr lang="en-IN" sz="2400" dirty="0"/>
              <a:t>Data Cleaning</a:t>
            </a:r>
          </a:p>
          <a:p>
            <a:pPr marL="114300" lvl="0" indent="0" algn="ctr">
              <a:buNone/>
            </a:pPr>
            <a:r>
              <a:rPr lang="en-IN" sz="2400" dirty="0"/>
              <a:t>Remove duplicate records </a:t>
            </a:r>
          </a:p>
          <a:p>
            <a:pPr marL="114300" lvl="0" indent="0" algn="ctr">
              <a:buNone/>
            </a:pPr>
            <a:r>
              <a:rPr lang="en-IN" sz="2400" dirty="0"/>
              <a:t>Handle missing values </a:t>
            </a:r>
          </a:p>
          <a:p>
            <a:pPr marL="114300" lvl="0" indent="0" algn="ctr">
              <a:buNone/>
            </a:pPr>
            <a:r>
              <a:rPr lang="en-IN" sz="2400" dirty="0"/>
              <a:t>Correct data types </a:t>
            </a:r>
          </a:p>
          <a:p>
            <a:pPr marL="114300" lvl="0" indent="0" algn="ctr">
              <a:buNone/>
            </a:pPr>
            <a:r>
              <a:rPr lang="en-IN" sz="2400" dirty="0"/>
              <a:t>Remove invalid records 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7" name="Google Shape;167;p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  <p:sp>
        <p:nvSpPr>
          <p:cNvPr id="3" name="Google Shape;150;p7">
            <a:extLst>
              <a:ext uri="{FF2B5EF4-FFF2-40B4-BE49-F238E27FC236}">
                <a16:creationId xmlns:a16="http://schemas.microsoft.com/office/drawing/2014/main" id="{1FDB38FC-420B-A384-1D93-411CF277B97D}"/>
              </a:ext>
            </a:extLst>
          </p:cNvPr>
          <p:cNvSpPr txBox="1"/>
          <p:nvPr/>
        </p:nvSpPr>
        <p:spPr>
          <a:xfrm>
            <a:off x="3454401" y="6396376"/>
            <a:ext cx="60960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20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sz="120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20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sz="120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EFC89-773F-B37A-4F04-0C54995D6D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114300" indent="0" algn="ctr">
              <a:buNone/>
            </a:pPr>
            <a:r>
              <a:rPr lang="en-IN" sz="2400" dirty="0"/>
              <a:t>↓</a:t>
            </a:r>
          </a:p>
          <a:p>
            <a:pPr marL="114300" indent="0" algn="ctr">
              <a:buNone/>
            </a:pPr>
            <a:r>
              <a:rPr lang="en-IN" sz="2400" b="1" dirty="0"/>
              <a:t>Step 4</a:t>
            </a:r>
          </a:p>
          <a:p>
            <a:pPr marL="114300" indent="0" algn="ctr">
              <a:buNone/>
            </a:pPr>
            <a:r>
              <a:rPr lang="en-IN" sz="2400" dirty="0"/>
              <a:t>Data Transformation</a:t>
            </a:r>
          </a:p>
          <a:p>
            <a:pPr marL="114300" lvl="0" indent="0" algn="ctr">
              <a:buNone/>
            </a:pPr>
            <a:r>
              <a:rPr lang="en-IN" sz="2400" dirty="0"/>
              <a:t>Merge tables </a:t>
            </a:r>
          </a:p>
          <a:p>
            <a:pPr marL="114300" lvl="0" indent="0" algn="ctr">
              <a:buNone/>
            </a:pPr>
            <a:r>
              <a:rPr lang="en-IN" sz="2400" dirty="0"/>
              <a:t>Feature engineering </a:t>
            </a:r>
          </a:p>
          <a:p>
            <a:pPr marL="114300" indent="0" algn="ctr">
              <a:buNone/>
            </a:pPr>
            <a:r>
              <a:rPr lang="en-IN" sz="2400" dirty="0"/>
              <a:t>↓</a:t>
            </a:r>
          </a:p>
          <a:p>
            <a:pPr marL="114300" indent="0" algn="ctr">
              <a:buNone/>
            </a:pPr>
            <a:r>
              <a:rPr lang="en-IN" sz="2400" b="1" dirty="0"/>
              <a:t>Step 5</a:t>
            </a:r>
          </a:p>
          <a:p>
            <a:pPr marL="114300" indent="0" algn="ctr">
              <a:buNone/>
            </a:pPr>
            <a:r>
              <a:rPr lang="en-IN" sz="2400" dirty="0"/>
              <a:t>Load Data into MySQL</a:t>
            </a:r>
          </a:p>
          <a:p>
            <a:pPr marL="114300" indent="0" algn="ctr">
              <a:buNone/>
            </a:pPr>
            <a:r>
              <a:rPr lang="en-IN" sz="2400" dirty="0"/>
              <a:t>↓</a:t>
            </a:r>
          </a:p>
          <a:p>
            <a:pPr marL="114300" indent="0" algn="ctr">
              <a:buNone/>
            </a:pPr>
            <a:r>
              <a:rPr lang="en-IN" sz="2400" b="1" dirty="0"/>
              <a:t>Step 6</a:t>
            </a:r>
          </a:p>
          <a:p>
            <a:pPr marL="114300" indent="0" algn="ctr">
              <a:buNone/>
            </a:pPr>
            <a:r>
              <a:rPr lang="en-IN" sz="2400" dirty="0"/>
              <a:t>Perform SQL Analysis</a:t>
            </a:r>
          </a:p>
          <a:p>
            <a:pPr marL="114300" indent="0" algn="ctr">
              <a:buNone/>
            </a:pPr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61EA67-DB94-B1AA-3935-72760E2176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</a:t>
            </a:fld>
            <a:endParaRPr lang="en-IN"/>
          </a:p>
        </p:txBody>
      </p:sp>
      <p:sp>
        <p:nvSpPr>
          <p:cNvPr id="5" name="Google Shape;164;p9">
            <a:extLst>
              <a:ext uri="{FF2B5EF4-FFF2-40B4-BE49-F238E27FC236}">
                <a16:creationId xmlns:a16="http://schemas.microsoft.com/office/drawing/2014/main" id="{06873C78-656D-FF29-FC18-83C301CB55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Method/ Approach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" name="Google Shape;150;p7">
            <a:extLst>
              <a:ext uri="{FF2B5EF4-FFF2-40B4-BE49-F238E27FC236}">
                <a16:creationId xmlns:a16="http://schemas.microsoft.com/office/drawing/2014/main" id="{F04DAA50-7118-2388-11B6-C96502240CC6}"/>
              </a:ext>
            </a:extLst>
          </p:cNvPr>
          <p:cNvSpPr txBox="1"/>
          <p:nvPr/>
        </p:nvSpPr>
        <p:spPr>
          <a:xfrm>
            <a:off x="3454400" y="6211669"/>
            <a:ext cx="60960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20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sz="120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20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sz="120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653944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6B466-8EE7-74E0-F05B-31F54A8A9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en-IN" sz="2400" dirty="0"/>
              <a:t>↓</a:t>
            </a:r>
          </a:p>
          <a:p>
            <a:pPr marL="114300" indent="0" algn="ctr">
              <a:buNone/>
            </a:pPr>
            <a:r>
              <a:rPr lang="en-IN" sz="2400" b="1" dirty="0"/>
              <a:t>Step 7</a:t>
            </a:r>
          </a:p>
          <a:p>
            <a:pPr marL="114300" indent="0" algn="ctr">
              <a:buNone/>
            </a:pPr>
            <a:r>
              <a:rPr lang="en-IN" sz="2400" dirty="0"/>
              <a:t>Build Power BI Dashboard</a:t>
            </a:r>
          </a:p>
          <a:p>
            <a:pPr marL="114300" indent="0" algn="ctr">
              <a:buNone/>
            </a:pPr>
            <a:r>
              <a:rPr lang="en-IN" sz="2400" dirty="0"/>
              <a:t>↓</a:t>
            </a:r>
          </a:p>
          <a:p>
            <a:pPr marL="114300" indent="0" algn="ctr">
              <a:buNone/>
            </a:pPr>
            <a:r>
              <a:rPr lang="en-IN" sz="2400" b="1" dirty="0"/>
              <a:t>Step 8</a:t>
            </a:r>
          </a:p>
          <a:p>
            <a:pPr marL="114300" indent="0" algn="ctr">
              <a:buNone/>
            </a:pPr>
            <a:r>
              <a:rPr lang="en-IN" sz="2400" dirty="0"/>
              <a:t>Business Insights</a:t>
            </a:r>
          </a:p>
          <a:p>
            <a:pPr marL="114300" indent="0" algn="ctr">
              <a:buNone/>
            </a:pPr>
            <a:r>
              <a:rPr lang="en-IN" sz="2400" dirty="0"/>
              <a:t>↓</a:t>
            </a:r>
          </a:p>
          <a:p>
            <a:pPr marL="114300" indent="0" algn="ctr">
              <a:buNone/>
            </a:pPr>
            <a:r>
              <a:rPr lang="en-IN" sz="2400" b="1" dirty="0"/>
              <a:t>Step 9</a:t>
            </a:r>
          </a:p>
          <a:p>
            <a:pPr marL="114300" indent="0" algn="ctr">
              <a:buNone/>
            </a:pPr>
            <a:r>
              <a:rPr lang="en-IN" sz="2400" dirty="0"/>
              <a:t>Conclusion</a:t>
            </a:r>
          </a:p>
          <a:p>
            <a:pPr marL="114300" indent="0" algn="ctr">
              <a:buNone/>
            </a:pPr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10610-4B30-6AB9-00B2-FB2A01FA7D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</a:t>
            </a:fld>
            <a:endParaRPr lang="en-IN"/>
          </a:p>
        </p:txBody>
      </p:sp>
      <p:sp>
        <p:nvSpPr>
          <p:cNvPr id="5" name="Google Shape;164;p9">
            <a:extLst>
              <a:ext uri="{FF2B5EF4-FFF2-40B4-BE49-F238E27FC236}">
                <a16:creationId xmlns:a16="http://schemas.microsoft.com/office/drawing/2014/main" id="{9B5DA5EA-20B4-2850-8B99-50285E7448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Method/ Approach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" name="Google Shape;177;p10">
            <a:extLst>
              <a:ext uri="{FF2B5EF4-FFF2-40B4-BE49-F238E27FC236}">
                <a16:creationId xmlns:a16="http://schemas.microsoft.com/office/drawing/2014/main" id="{DED2BFCE-5989-1F52-CD26-9A9A6BB876EA}"/>
              </a:ext>
            </a:extLst>
          </p:cNvPr>
          <p:cNvSpPr txBox="1"/>
          <p:nvPr/>
        </p:nvSpPr>
        <p:spPr>
          <a:xfrm>
            <a:off x="3454400" y="6211669"/>
            <a:ext cx="60960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20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sz="120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20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sz="120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79936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Bibliography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4" name="Google Shape;174;p10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IN" dirty="0"/>
              <a:t>Use references such as:</a:t>
            </a:r>
          </a:p>
          <a:p>
            <a:pPr marL="628650" lvl="0" indent="-514350">
              <a:buFont typeface="+mj-lt"/>
              <a:buAutoNum type="arabicPeriod"/>
            </a:pPr>
            <a:r>
              <a:rPr lang="en-IN" sz="2800" dirty="0"/>
              <a:t>Olist Brazilian E-Commerce Dataset (Kaggle) </a:t>
            </a:r>
          </a:p>
          <a:p>
            <a:pPr marL="628650" lvl="0" indent="-514350">
              <a:buFont typeface="+mj-lt"/>
              <a:buAutoNum type="arabicPeriod"/>
            </a:pPr>
            <a:r>
              <a:rPr lang="en-IN" sz="2800" dirty="0"/>
              <a:t>Python Official Documentation </a:t>
            </a:r>
          </a:p>
          <a:p>
            <a:pPr marL="628650" lvl="0" indent="-514350">
              <a:buFont typeface="+mj-lt"/>
              <a:buAutoNum type="arabicPeriod"/>
            </a:pPr>
            <a:r>
              <a:rPr lang="en-IN" sz="2800" dirty="0"/>
              <a:t>Pandas Documentation </a:t>
            </a:r>
          </a:p>
          <a:p>
            <a:pPr marL="628650" lvl="0" indent="-514350">
              <a:buFont typeface="+mj-lt"/>
              <a:buAutoNum type="arabicPeriod"/>
            </a:pPr>
            <a:r>
              <a:rPr lang="en-IN" sz="2800" dirty="0"/>
              <a:t>NumPy Documentation </a:t>
            </a:r>
          </a:p>
          <a:p>
            <a:pPr marL="628650" lvl="0" indent="-514350">
              <a:buFont typeface="+mj-lt"/>
              <a:buAutoNum type="arabicPeriod"/>
            </a:pPr>
            <a:r>
              <a:rPr lang="en-IN" sz="2800" dirty="0"/>
              <a:t>MySQL Documentation </a:t>
            </a:r>
          </a:p>
          <a:p>
            <a:pPr marL="628650" lvl="0" indent="-514350">
              <a:buFont typeface="+mj-lt"/>
              <a:buAutoNum type="arabicPeriod"/>
            </a:pPr>
            <a:r>
              <a:rPr lang="en-IN" sz="2800" dirty="0"/>
              <a:t>Microsoft Power BI Documentation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6" name="Google Shape;176;p1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  <p:sp>
        <p:nvSpPr>
          <p:cNvPr id="177" name="Google Shape;177;p10"/>
          <p:cNvSpPr txBox="1"/>
          <p:nvPr/>
        </p:nvSpPr>
        <p:spPr>
          <a:xfrm>
            <a:off x="3454400" y="6211669"/>
            <a:ext cx="60960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20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sz="120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20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sz="120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BC953-D553-B4D4-5EA0-50F863523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Expected Project Outcome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205AD-5F80-EA9D-990C-3F64204E3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72333"/>
            <a:ext cx="10972800" cy="4525963"/>
          </a:xfrm>
        </p:spPr>
        <p:txBody>
          <a:bodyPr>
            <a:normAutofit/>
          </a:bodyPr>
          <a:lstStyle/>
          <a:p>
            <a:pPr lvl="0"/>
            <a:r>
              <a:rPr lang="en-IN" sz="2500" dirty="0"/>
              <a:t>Clean and structured e-commerce dataset. </a:t>
            </a:r>
          </a:p>
          <a:p>
            <a:pPr lvl="0"/>
            <a:r>
              <a:rPr lang="en-IN" sz="2500" dirty="0"/>
              <a:t>SQL database containing processed data. </a:t>
            </a:r>
          </a:p>
          <a:p>
            <a:pPr lvl="0"/>
            <a:r>
              <a:rPr lang="en-IN" sz="2500" dirty="0"/>
              <a:t>Interactive Power BI dashboard. </a:t>
            </a:r>
          </a:p>
          <a:p>
            <a:pPr lvl="0"/>
            <a:r>
              <a:rPr lang="en-IN" sz="2500" dirty="0"/>
              <a:t>Business KPIs and visual reports. </a:t>
            </a:r>
          </a:p>
          <a:p>
            <a:pPr lvl="0"/>
            <a:r>
              <a:rPr lang="en-IN" sz="2500" dirty="0"/>
              <a:t>Actionable business insights for revenue growth.</a:t>
            </a:r>
          </a:p>
          <a:p>
            <a:endParaRPr lang="en-IN" sz="2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6ECAA-F3C0-5E55-4C37-1D3DC1D1B6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13</a:t>
            </a:fld>
            <a:endParaRPr lang="en-IN"/>
          </a:p>
        </p:txBody>
      </p:sp>
      <p:sp>
        <p:nvSpPr>
          <p:cNvPr id="6" name="Google Shape;177;p10">
            <a:extLst>
              <a:ext uri="{FF2B5EF4-FFF2-40B4-BE49-F238E27FC236}">
                <a16:creationId xmlns:a16="http://schemas.microsoft.com/office/drawing/2014/main" id="{6AA96663-9937-D24F-CD87-A4B952F5C83B}"/>
              </a:ext>
            </a:extLst>
          </p:cNvPr>
          <p:cNvSpPr txBox="1"/>
          <p:nvPr/>
        </p:nvSpPr>
        <p:spPr>
          <a:xfrm>
            <a:off x="3454400" y="6211669"/>
            <a:ext cx="60960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20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DEPARTMENT OF COMPUTER ENGINEERING </a:t>
            </a:r>
            <a:endParaRPr sz="1200" i="0" u="none" strike="noStrike" cap="none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200" i="0" u="none" strike="noStrike" cap="none" dirty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*Proprietary material of SILVER OAK UNIVERSITY</a:t>
            </a:r>
            <a:endParaRPr sz="120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508274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625</Words>
  <Application>Microsoft Office PowerPoint</Application>
  <PresentationFormat>Widescreen</PresentationFormat>
  <Paragraphs>161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Cambria</vt:lpstr>
      <vt:lpstr>Times New Roman</vt:lpstr>
      <vt:lpstr>Wingdings</vt:lpstr>
      <vt:lpstr>Office Theme</vt:lpstr>
      <vt:lpstr>PowerPoint Presentation</vt:lpstr>
      <vt:lpstr>Index</vt:lpstr>
      <vt:lpstr>Introduction</vt:lpstr>
      <vt:lpstr>Background and Motivation</vt:lpstr>
      <vt:lpstr>Relevance and Importance</vt:lpstr>
      <vt:lpstr>Literature Review</vt:lpstr>
      <vt:lpstr>Objectives</vt:lpstr>
      <vt:lpstr>Required Tools and Technology</vt:lpstr>
      <vt:lpstr>Method/ Approach</vt:lpstr>
      <vt:lpstr>Method/ Approach</vt:lpstr>
      <vt:lpstr>Method/ Approach</vt:lpstr>
      <vt:lpstr>Bibliography</vt:lpstr>
      <vt:lpstr>Expected Project Outcome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Darshan Tank</dc:creator>
  <cp:lastModifiedBy>tankdarshanr@outlook.com</cp:lastModifiedBy>
  <cp:revision>15</cp:revision>
  <dcterms:modified xsi:type="dcterms:W3CDTF">2026-08-08T08:11:21Z</dcterms:modified>
</cp:coreProperties>
</file>